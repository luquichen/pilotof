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7" r:id="rId5"/>
    <p:sldId id="266" r:id="rId6"/>
    <p:sldId id="259" r:id="rId7"/>
    <p:sldId id="260" r:id="rId8"/>
    <p:sldId id="261" r:id="rId9"/>
    <p:sldId id="268" r:id="rId10"/>
    <p:sldId id="262" r:id="rId11"/>
    <p:sldId id="263" r:id="rId12"/>
    <p:sldId id="264" r:id="rId13"/>
    <p:sldId id="26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snapToObjects="1">
      <p:cViewPr>
        <p:scale>
          <a:sx n="114" d="100"/>
          <a:sy n="114" d="100"/>
        </p:scale>
        <p:origin x="800"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0" dirty="0"/>
          </a:p>
        </p:txBody>
      </p:sp>
      <p:sp>
        <p:nvSpPr>
          <p:cNvPr id="2" name="Title 1"/>
          <p:cNvSpPr>
            <a:spLocks noGrp="1"/>
          </p:cNvSpPr>
          <p:nvPr>
            <p:ph type="ctrTitle"/>
          </p:nvPr>
        </p:nvSpPr>
        <p:spPr>
          <a:xfrm>
            <a:off x="628649" y="1093788"/>
            <a:ext cx="7879841" cy="2967208"/>
          </a:xfrm>
        </p:spPr>
        <p:txBody>
          <a:bodyPr>
            <a:normAutofit/>
          </a:bodyPr>
          <a:lstStyle/>
          <a:p>
            <a:pPr algn="l">
              <a:defRPr sz="4400" b="1">
                <a:solidFill>
                  <a:srgbClr val="000080"/>
                </a:solidFill>
              </a:defRPr>
            </a:pPr>
            <a:r>
              <a:rPr lang="es-ES_tradnl" sz="7000" noProof="0" dirty="0"/>
              <a:t>Librería Kahlo</a:t>
            </a:r>
          </a:p>
        </p:txBody>
      </p:sp>
      <p:sp>
        <p:nvSpPr>
          <p:cNvPr id="3" name="Subtitle 2"/>
          <p:cNvSpPr>
            <a:spLocks noGrp="1"/>
          </p:cNvSpPr>
          <p:nvPr>
            <p:ph type="subTitle" idx="1"/>
          </p:nvPr>
        </p:nvSpPr>
        <p:spPr>
          <a:xfrm>
            <a:off x="5244029" y="4583460"/>
            <a:ext cx="3458640" cy="1038225"/>
          </a:xfrm>
        </p:spPr>
        <p:txBody>
          <a:bodyPr>
            <a:normAutofit/>
          </a:bodyPr>
          <a:lstStyle/>
          <a:p>
            <a:pPr algn="r">
              <a:lnSpc>
                <a:spcPct val="90000"/>
              </a:lnSpc>
              <a:defRPr sz="3200">
                <a:solidFill>
                  <a:srgbClr val="000080"/>
                </a:solidFill>
              </a:defRPr>
            </a:pPr>
            <a:r>
              <a:rPr lang="es-ES_tradnl" noProof="0" dirty="0"/>
              <a:t>Sistemas de información II</a:t>
            </a:r>
          </a:p>
        </p:txBody>
      </p:sp>
      <p:sp>
        <p:nvSpPr>
          <p:cNvPr id="19" name="Rectangle 18">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noProof="0" dirty="0">
              <a:solidFill>
                <a:prstClr val="white"/>
              </a:solidFill>
              <a:latin typeface="Calibri" panose="020F0502020204030204"/>
            </a:endParaRPr>
          </a:p>
        </p:txBody>
      </p:sp>
      <p:sp>
        <p:nvSpPr>
          <p:cNvPr id="21" name="Rectangle 20">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426720"/>
            <a:ext cx="7879842" cy="1919141"/>
          </a:xfrm>
        </p:spPr>
        <p:txBody>
          <a:bodyPr anchor="b">
            <a:normAutofit/>
          </a:bodyPr>
          <a:lstStyle/>
          <a:p>
            <a:pPr>
              <a:defRPr sz="3600" b="1">
                <a:solidFill>
                  <a:srgbClr val="000080"/>
                </a:solidFill>
              </a:defRPr>
            </a:pPr>
            <a:r>
              <a:rPr lang="es-ES_tradnl" sz="5200" noProof="0"/>
              <a:t>Presentación del trabajo</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2899927"/>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2776031"/>
            <a:ext cx="1405092"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630936" y="3337269"/>
            <a:ext cx="7882128" cy="2905686"/>
          </a:xfrm>
        </p:spPr>
        <p:txBody>
          <a:bodyPr>
            <a:normAutofit/>
          </a:bodyPr>
          <a:lstStyle/>
          <a:p>
            <a:pPr marL="0" indent="0">
              <a:buNone/>
            </a:pPr>
            <a:r>
              <a:rPr lang="es-ES" sz="1900" dirty="0"/>
              <a:t>El presente documento constituye el Trabajo Práctico Obligatorio (TPO) de la asignatura Sistemas de Información II de la UADE, elaborado por un equipo que simula un rol profesional dentro de un proyecto de Ingeniería de Requerimientos para la librería Kahlo. Las especificaciones de requerimientos de software presentadas a continuación describen la problemática, el contexto de negocio y la solución propuesta, que deberá ser evaluada y aceptada por el cliente, para su posterior implementación.</a:t>
            </a:r>
            <a:endParaRPr lang="en-DK"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548640"/>
            <a:ext cx="7626096" cy="1179576"/>
          </a:xfrm>
        </p:spPr>
        <p:txBody>
          <a:bodyPr>
            <a:normAutofit/>
          </a:bodyPr>
          <a:lstStyle/>
          <a:p>
            <a:pPr>
              <a:defRPr sz="3600" b="1">
                <a:solidFill>
                  <a:srgbClr val="000080"/>
                </a:solidFill>
              </a:defRPr>
            </a:pPr>
            <a:r>
              <a:rPr lang="es-ES_tradnl" sz="3500" noProof="0" dirty="0"/>
              <a:t>Sobre el equipo</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75895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DF07A7D8-D461-39D7-CA41-D1F40DBB4BE0}"/>
              </a:ext>
            </a:extLst>
          </p:cNvPr>
          <p:cNvPicPr>
            <a:picLocks noChangeAspect="1"/>
          </p:cNvPicPr>
          <p:nvPr/>
        </p:nvPicPr>
        <p:blipFill>
          <a:blip r:embed="rId2"/>
          <a:stretch>
            <a:fillRect/>
          </a:stretch>
        </p:blipFill>
        <p:spPr>
          <a:xfrm>
            <a:off x="1281528" y="2048129"/>
            <a:ext cx="6580943" cy="44950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113538-7369-D625-A4C4-03C9EF11DC4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ECA11C-7853-33BC-AF17-808D76F1DFE2}"/>
              </a:ext>
            </a:extLst>
          </p:cNvPr>
          <p:cNvSpPr>
            <a:spLocks noGrp="1"/>
          </p:cNvSpPr>
          <p:nvPr>
            <p:ph type="title"/>
          </p:nvPr>
        </p:nvSpPr>
        <p:spPr>
          <a:xfrm>
            <a:off x="785059" y="586822"/>
            <a:ext cx="2670189" cy="1645920"/>
          </a:xfrm>
        </p:spPr>
        <p:txBody>
          <a:bodyPr>
            <a:normAutofit/>
          </a:bodyPr>
          <a:lstStyle/>
          <a:p>
            <a:pPr>
              <a:defRPr sz="3600" b="1">
                <a:solidFill>
                  <a:srgbClr val="000080"/>
                </a:solidFill>
              </a:defRPr>
            </a:pPr>
            <a:r>
              <a:rPr lang="es-ES_tradnl" sz="2800" noProof="0"/>
              <a:t>Sobre la Librería Kahlo</a:t>
            </a:r>
          </a:p>
        </p:txBody>
      </p:sp>
      <p:sp>
        <p:nvSpPr>
          <p:cNvPr id="23" name="Rectangle 2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5" name="Rectangle 2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7C1D040-B656-70D7-A753-EF5EBDBC09FE}"/>
              </a:ext>
            </a:extLst>
          </p:cNvPr>
          <p:cNvSpPr>
            <a:spLocks noGrp="1"/>
          </p:cNvSpPr>
          <p:nvPr>
            <p:ph idx="1"/>
          </p:nvPr>
        </p:nvSpPr>
        <p:spPr>
          <a:xfrm>
            <a:off x="4013373" y="586822"/>
            <a:ext cx="4501977" cy="1645920"/>
          </a:xfrm>
        </p:spPr>
        <p:txBody>
          <a:bodyPr numCol="2" anchor="ctr">
            <a:normAutofit lnSpcReduction="10000"/>
          </a:bodyPr>
          <a:lstStyle/>
          <a:p>
            <a:pPr marL="0" indent="0">
              <a:lnSpc>
                <a:spcPct val="90000"/>
              </a:lnSpc>
              <a:buNone/>
            </a:pPr>
            <a:r>
              <a:rPr lang="es-ES" sz="1200" dirty="0"/>
              <a:t>La librería Kahlo, ubicada en la Ciudad Autónoma de Buenos Aires, ejerce sus actividades comerciales desde el año 2005, ofreciendo artículos escolares y artísticos a un público minorista. La librería comercializa productos artísticos, escolares y de oficina. Realiza compras mayoristas y luego ventas minoristas, tanto en su local físico como en Mercado Libre. A través de la tienda de Mercado Libre, se realizan ventas a todo el país. Además, la librería ofrece asesoramiento personalizado y gratuito sobre los materiales y productos que comercializa.</a:t>
            </a:r>
          </a:p>
          <a:p>
            <a:pPr marL="0" indent="0">
              <a:lnSpc>
                <a:spcPct val="90000"/>
              </a:lnSpc>
              <a:buNone/>
            </a:pPr>
            <a:endParaRPr lang="en-DK" sz="1200" dirty="0"/>
          </a:p>
          <a:p>
            <a:pPr>
              <a:lnSpc>
                <a:spcPct val="90000"/>
              </a:lnSpc>
            </a:pPr>
            <a:endParaRPr lang="es-ES_tradnl" sz="1200" noProof="0" dirty="0"/>
          </a:p>
        </p:txBody>
      </p:sp>
      <p:pic>
        <p:nvPicPr>
          <p:cNvPr id="4" name="Picture 3">
            <a:extLst>
              <a:ext uri="{FF2B5EF4-FFF2-40B4-BE49-F238E27FC236}">
                <a16:creationId xmlns:a16="http://schemas.microsoft.com/office/drawing/2014/main" id="{9A738302-0237-8B0E-C399-7BD1DB1B3D43}"/>
              </a:ext>
            </a:extLst>
          </p:cNvPr>
          <p:cNvPicPr>
            <a:picLocks noChangeAspect="1"/>
          </p:cNvPicPr>
          <p:nvPr/>
        </p:nvPicPr>
        <p:blipFill>
          <a:blip r:embed="rId2"/>
          <a:stretch>
            <a:fillRect/>
          </a:stretch>
        </p:blipFill>
        <p:spPr>
          <a:xfrm>
            <a:off x="417779" y="3077468"/>
            <a:ext cx="8373618" cy="3223841"/>
          </a:xfrm>
          <a:prstGeom prst="rect">
            <a:avLst/>
          </a:prstGeom>
        </p:spPr>
      </p:pic>
    </p:spTree>
    <p:extLst>
      <p:ext uri="{BB962C8B-B14F-4D97-AF65-F5344CB8AC3E}">
        <p14:creationId xmlns:p14="http://schemas.microsoft.com/office/powerpoint/2010/main" val="2689057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D92802-EBB6-53C2-022A-449D28E0C8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426E8C-5DEB-479A-E58F-B313BA4FEF44}"/>
              </a:ext>
            </a:extLst>
          </p:cNvPr>
          <p:cNvSpPr>
            <a:spLocks noGrp="1"/>
          </p:cNvSpPr>
          <p:nvPr>
            <p:ph type="title"/>
          </p:nvPr>
        </p:nvSpPr>
        <p:spPr>
          <a:xfrm>
            <a:off x="630936" y="426720"/>
            <a:ext cx="7879842" cy="1919141"/>
          </a:xfrm>
        </p:spPr>
        <p:txBody>
          <a:bodyPr anchor="b">
            <a:normAutofit/>
          </a:bodyPr>
          <a:lstStyle/>
          <a:p>
            <a:pPr>
              <a:defRPr sz="3600" b="1">
                <a:solidFill>
                  <a:srgbClr val="000080"/>
                </a:solidFill>
              </a:defRPr>
            </a:pPr>
            <a:r>
              <a:rPr lang="es-ES_tradnl" sz="5200" noProof="0"/>
              <a:t>Problemática del negocio analizada</a:t>
            </a:r>
          </a:p>
        </p:txBody>
      </p:sp>
      <p:sp>
        <p:nvSpPr>
          <p:cNvPr id="12" name="Rectangle 1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2899927"/>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2776031"/>
            <a:ext cx="1405092"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625AEADA-88F3-6E88-729B-6F2C8E530827}"/>
              </a:ext>
            </a:extLst>
          </p:cNvPr>
          <p:cNvSpPr>
            <a:spLocks noGrp="1"/>
          </p:cNvSpPr>
          <p:nvPr>
            <p:ph idx="1"/>
          </p:nvPr>
        </p:nvSpPr>
        <p:spPr>
          <a:xfrm>
            <a:off x="630936" y="3337269"/>
            <a:ext cx="7882128" cy="2905686"/>
          </a:xfrm>
        </p:spPr>
        <p:txBody>
          <a:bodyPr>
            <a:normAutofit/>
          </a:bodyPr>
          <a:lstStyle/>
          <a:p>
            <a:pPr marL="0" lvl="0" indent="0">
              <a:buNone/>
            </a:pPr>
            <a:r>
              <a:rPr lang="es-ES" sz="1900" b="1"/>
              <a:t>a. Limitado conocimiento tecnológico</a:t>
            </a:r>
            <a:endParaRPr lang="en-DK" sz="1900"/>
          </a:p>
          <a:p>
            <a:pPr marL="0" indent="0">
              <a:buNone/>
            </a:pPr>
            <a:r>
              <a:rPr lang="es-ES" sz="1900" b="1"/>
              <a:t>b. Carga manual de productos y stock en la plataforma</a:t>
            </a:r>
            <a:endParaRPr lang="en-DK" sz="1900"/>
          </a:p>
          <a:p>
            <a:pPr marL="0" indent="0">
              <a:buNone/>
            </a:pPr>
            <a:r>
              <a:rPr lang="es-ES" sz="1900" b="1"/>
              <a:t>c. Limitada atención al cliente online</a:t>
            </a:r>
            <a:endParaRPr lang="en-DK" sz="1900"/>
          </a:p>
          <a:p>
            <a:pPr marL="0" indent="0">
              <a:buNone/>
            </a:pPr>
            <a:r>
              <a:rPr lang="es-ES" sz="1900" b="1"/>
              <a:t>d. Ausencia total de publicidad y marketing digital</a:t>
            </a:r>
            <a:endParaRPr lang="en-DK" sz="1900"/>
          </a:p>
          <a:p>
            <a:pPr marL="0" indent="0">
              <a:buNone/>
            </a:pPr>
            <a:r>
              <a:rPr lang="es-ES" sz="1900" b="1"/>
              <a:t>e. Falta de integración entre canales</a:t>
            </a:r>
            <a:endParaRPr lang="en-DK" sz="1900"/>
          </a:p>
          <a:p>
            <a:pPr marL="0" indent="0">
              <a:buNone/>
            </a:pPr>
            <a:r>
              <a:rPr lang="es-ES" sz="1900" b="1"/>
              <a:t>f. Gestión unipersonal y multitarea constante</a:t>
            </a:r>
            <a:endParaRPr lang="en-DK" sz="1900"/>
          </a:p>
        </p:txBody>
      </p:sp>
    </p:spTree>
    <p:extLst>
      <p:ext uri="{BB962C8B-B14F-4D97-AF65-F5344CB8AC3E}">
        <p14:creationId xmlns:p14="http://schemas.microsoft.com/office/powerpoint/2010/main" val="2064712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pPr>
              <a:defRPr sz="3600" b="1">
                <a:solidFill>
                  <a:srgbClr val="000080"/>
                </a:solidFill>
              </a:defRPr>
            </a:pPr>
            <a:r>
              <a:rPr lang="es-ES_tradnl" sz="4200" noProof="0"/>
              <a:t>Etapa de elicitación</a:t>
            </a:r>
          </a:p>
        </p:txBody>
      </p:sp>
      <p:sp>
        <p:nvSpPr>
          <p:cNvPr id="3" name="Content Placeholder 2"/>
          <p:cNvSpPr>
            <a:spLocks noGrp="1"/>
          </p:cNvSpPr>
          <p:nvPr>
            <p:ph idx="1"/>
          </p:nvPr>
        </p:nvSpPr>
        <p:spPr>
          <a:xfrm>
            <a:off x="783771" y="3017522"/>
            <a:ext cx="7455989" cy="3124658"/>
          </a:xfrm>
        </p:spPr>
        <p:txBody>
          <a:bodyPr anchor="ctr">
            <a:normAutofit lnSpcReduction="10000"/>
          </a:bodyPr>
          <a:lstStyle/>
          <a:p>
            <a:pPr>
              <a:lnSpc>
                <a:spcPct val="90000"/>
              </a:lnSpc>
            </a:pPr>
            <a:r>
              <a:rPr lang="es-ES_tradnl" sz="1900" noProof="0" dirty="0"/>
              <a:t>Resumen de la entrevista.</a:t>
            </a:r>
          </a:p>
          <a:p>
            <a:pPr>
              <a:lnSpc>
                <a:spcPct val="90000"/>
              </a:lnSpc>
            </a:pPr>
            <a:r>
              <a:rPr lang="es-ES_tradnl" sz="1900" dirty="0"/>
              <a:t>Cuestionario a Nacho.</a:t>
            </a:r>
          </a:p>
          <a:p>
            <a:pPr>
              <a:lnSpc>
                <a:spcPct val="90000"/>
              </a:lnSpc>
            </a:pPr>
            <a:r>
              <a:rPr lang="es-ES_tradnl" sz="1900" dirty="0"/>
              <a:t>Documentos analizados (facturas, notas de crédito, etc.)</a:t>
            </a:r>
          </a:p>
          <a:p>
            <a:pPr>
              <a:lnSpc>
                <a:spcPct val="90000"/>
              </a:lnSpc>
            </a:pPr>
            <a:r>
              <a:rPr lang="es-ES_tradnl" sz="1900" noProof="0" dirty="0"/>
              <a:t>Encuesta en el local – Resultados observados (de</a:t>
            </a:r>
            <a:r>
              <a:rPr lang="es-ES_tradnl" sz="1900" dirty="0"/>
              <a:t> las 29 respuestas)</a:t>
            </a:r>
            <a:r>
              <a:rPr lang="es-ES_tradnl" sz="1900" noProof="0" dirty="0"/>
              <a:t>:</a:t>
            </a:r>
          </a:p>
          <a:p>
            <a:pPr lvl="1">
              <a:lnSpc>
                <a:spcPct val="90000"/>
              </a:lnSpc>
            </a:pPr>
            <a:r>
              <a:rPr lang="es-ES" sz="1900" dirty="0"/>
              <a:t>El 93% de las personas encuestadas afirman que van al local físico por la atención personalizada que reciben. Aun así, el 82% de los clientes indicó que le gustaría poder hacer las compras de forma online y recibirlas en su domicilio o pasar a retirarlas.</a:t>
            </a:r>
            <a:endParaRPr lang="en-DK" sz="1900" dirty="0"/>
          </a:p>
          <a:p>
            <a:pPr lvl="1">
              <a:lnSpc>
                <a:spcPct val="90000"/>
              </a:lnSpc>
            </a:pPr>
            <a:r>
              <a:rPr lang="es-ES" sz="1900" dirty="0"/>
              <a:t>Por otro lado, sólo el 14% de los encuestados no se mostró interesado en un programa de beneficios, mientras que el 66% dice estar muy interesado.</a:t>
            </a:r>
            <a:endParaRPr lang="en-DK" sz="1900" dirty="0"/>
          </a:p>
          <a:p>
            <a:pPr lvl="1">
              <a:lnSpc>
                <a:spcPct val="90000"/>
              </a:lnSpc>
            </a:pPr>
            <a:endParaRPr lang="es-ES_tradnl" sz="1900" noProof="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pPr>
              <a:defRPr sz="3600" b="1">
                <a:solidFill>
                  <a:srgbClr val="000080"/>
                </a:solidFill>
              </a:defRPr>
            </a:pPr>
            <a:r>
              <a:rPr lang="es-ES_tradnl" sz="4700" noProof="0" dirty="0"/>
              <a:t>Dominio y alcance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fontScale="47500" lnSpcReduction="20000"/>
          </a:bodyPr>
          <a:lstStyle/>
          <a:p>
            <a:r>
              <a:rPr lang="es-ES" dirty="0"/>
              <a:t>La librería Kahlo se encuentra fuertemente consolidada en el mercado. Durante el proceso de elicitación, el equipo técnico obtuvo nueva información que ayuda a comprender el estado de situación y la problemática principal, así como las necesidades y limitaciones actuales para el crecimiento del negocio.</a:t>
            </a:r>
            <a:endParaRPr lang="en-DK" dirty="0"/>
          </a:p>
          <a:p>
            <a:r>
              <a:rPr lang="es-ES" dirty="0"/>
              <a:t>Con toda la información relevada, se definió el dominio del sistema, que incluye al área de ventas y facturación, dejando por fuera la gestión de proveedores, que fue discutido, pero, además de requerir un análisis más profundo, está sujeto a grandes cambios en el corto plazo. El alcance del proyecto incluye la actualización de stock, la publicación de productos, la venta, facturación y el apoyo en el asesoramiento a los clientes. La gestión de reclamos ya sea en envíos o facturación, queda fuera del alcance del proyecto actual, aunque Ana resaltó su importancia y la necesidad de un tratamiento futuro.</a:t>
            </a:r>
          </a:p>
          <a:p>
            <a:r>
              <a:rPr lang="es-ES" dirty="0"/>
              <a:t>El presente proyecto se centra en mejorar los procesos vinculados al área de ventas de la Librería Kahlo, con especial foco en la integración de los canales de venta físico y digital, la automatización de la facturación, la actualización de stock en tiempo real y la atención al cliente digital.</a:t>
            </a:r>
            <a:endParaRPr lang="en-DK" dirty="0"/>
          </a:p>
          <a:p>
            <a:endParaRPr lang="es-ES_tradnl" sz="21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b="1">
                <a:solidFill>
                  <a:srgbClr val="000080"/>
                </a:solidFill>
              </a:defRPr>
            </a:pPr>
            <a:r>
              <a:rPr lang="es-ES_tradnl" noProof="0" dirty="0"/>
              <a:t>Requerimientos Funcionales</a:t>
            </a:r>
          </a:p>
        </p:txBody>
      </p:sp>
      <p:sp>
        <p:nvSpPr>
          <p:cNvPr id="3" name="Content Placeholder 2"/>
          <p:cNvSpPr>
            <a:spLocks noGrp="1"/>
          </p:cNvSpPr>
          <p:nvPr>
            <p:ph idx="1"/>
          </p:nvPr>
        </p:nvSpPr>
        <p:spPr/>
        <p:txBody>
          <a:bodyPr>
            <a:normAutofit fontScale="47500" lnSpcReduction="20000"/>
          </a:bodyPr>
          <a:lstStyle/>
          <a:p>
            <a:r>
              <a:rPr lang="es-ES" dirty="0"/>
              <a:t>RF01: El sistema debe registrar y gestionar ventas realizadas tanto en el local físico como en Mercado Libre, de forma unificada.</a:t>
            </a:r>
            <a:endParaRPr lang="en-DK" sz="3600" dirty="0"/>
          </a:p>
          <a:p>
            <a:r>
              <a:rPr lang="es-ES" dirty="0"/>
              <a:t>RF02: El sistema debe gestionar el proceso de entrega a domicilio o retiro en local. </a:t>
            </a:r>
            <a:endParaRPr lang="en-DK" sz="3600" dirty="0"/>
          </a:p>
          <a:p>
            <a:r>
              <a:rPr lang="es-ES" dirty="0"/>
              <a:t>RF03: Para envíos con logística propia, el sistema debe permitir la actualización manual del proceso.</a:t>
            </a:r>
            <a:endParaRPr lang="en-DK" sz="3600" dirty="0"/>
          </a:p>
          <a:p>
            <a:r>
              <a:rPr lang="es-ES" dirty="0"/>
              <a:t>RF04: El sistema debe brindar un canal de comunicación directa mediante un chat en línea, disponible tanto para usuarios potenciales (preventa) como para clientes actuales (posventa).</a:t>
            </a:r>
            <a:endParaRPr lang="en-DK" sz="3600" dirty="0"/>
          </a:p>
          <a:p>
            <a:r>
              <a:rPr lang="es-ES" dirty="0"/>
              <a:t>RF05: El sistema debe poder facilitar la gestión de consultas mediante plantillas de respuestas automáticas y editables. </a:t>
            </a:r>
            <a:endParaRPr lang="en-DK" sz="3600" dirty="0"/>
          </a:p>
          <a:p>
            <a:r>
              <a:rPr lang="es-ES" dirty="0"/>
              <a:t>RF06: El sistema debe administrar el stock de manera centralizada para ambos canales de venta: el punto de venta físico y Mercado Libre.</a:t>
            </a:r>
            <a:endParaRPr lang="en-DK" sz="3600" dirty="0"/>
          </a:p>
          <a:p>
            <a:r>
              <a:rPr lang="es-ES" dirty="0"/>
              <a:t>RF07: El sistema debe poder reservar automáticamente unidades del stock ante cada venta para asegurar su disponibilidad hasta el despacho.</a:t>
            </a:r>
            <a:endParaRPr lang="en-DK" sz="3600" dirty="0"/>
          </a:p>
          <a:p>
            <a:r>
              <a:rPr lang="es-ES" dirty="0"/>
              <a:t>RF08: El sistema debe poder clasificar productos estacionales y monitorear sus niveles de venta durante períodos determinados, con el fin de optimizar el stock en temporadas clave. </a:t>
            </a:r>
            <a:endParaRPr lang="en-DK" sz="3600" dirty="0"/>
          </a:p>
          <a:p>
            <a:r>
              <a:rPr lang="es-ES" dirty="0"/>
              <a:t>RF09: El sistema debe generar facturas electrónicas automáticamente a partir de las ventas, con integración a ARCA. </a:t>
            </a:r>
            <a:endParaRPr lang="en-DK" sz="3600" dirty="0"/>
          </a:p>
          <a:p>
            <a:r>
              <a:rPr lang="es-ES" dirty="0"/>
              <a:t>RF10: En caso de faltar datos para emitir facturas, el sistema debe solicitarlos automáticamente al comprador.</a:t>
            </a:r>
            <a:endParaRPr lang="en-DK" sz="3600" dirty="0"/>
          </a:p>
          <a:p>
            <a:r>
              <a:rPr lang="es-ES" dirty="0"/>
              <a:t>RF11: El sistema debe incorporar un módulo de beneficios (puntos, descuentos, cupones) para clientes frecuentes.</a:t>
            </a:r>
            <a:endParaRPr lang="en-DK" sz="3600" dirty="0"/>
          </a:p>
          <a:p>
            <a:endParaRPr lang="es-ES_tradnl"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72780-BE2C-AC93-1306-ADD803CB1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F167F-8E58-47F6-70F1-437CCA5F6704}"/>
              </a:ext>
            </a:extLst>
          </p:cNvPr>
          <p:cNvSpPr>
            <a:spLocks noGrp="1"/>
          </p:cNvSpPr>
          <p:nvPr>
            <p:ph type="title"/>
          </p:nvPr>
        </p:nvSpPr>
        <p:spPr/>
        <p:txBody>
          <a:bodyPr>
            <a:normAutofit/>
          </a:bodyPr>
          <a:lstStyle/>
          <a:p>
            <a:pPr>
              <a:defRPr sz="3600" b="1">
                <a:solidFill>
                  <a:srgbClr val="000080"/>
                </a:solidFill>
              </a:defRPr>
            </a:pPr>
            <a:r>
              <a:rPr lang="es-ES_tradnl" noProof="0" dirty="0"/>
              <a:t>Requerimientos No Funcionales</a:t>
            </a:r>
          </a:p>
        </p:txBody>
      </p:sp>
      <p:sp>
        <p:nvSpPr>
          <p:cNvPr id="3" name="Content Placeholder 2">
            <a:extLst>
              <a:ext uri="{FF2B5EF4-FFF2-40B4-BE49-F238E27FC236}">
                <a16:creationId xmlns:a16="http://schemas.microsoft.com/office/drawing/2014/main" id="{D7EBDE6E-A8D4-A7EC-FD91-28D2153DFFA7}"/>
              </a:ext>
            </a:extLst>
          </p:cNvPr>
          <p:cNvSpPr>
            <a:spLocks noGrp="1"/>
          </p:cNvSpPr>
          <p:nvPr>
            <p:ph idx="1"/>
          </p:nvPr>
        </p:nvSpPr>
        <p:spPr/>
        <p:txBody>
          <a:bodyPr>
            <a:normAutofit fontScale="70000" lnSpcReduction="20000"/>
          </a:bodyPr>
          <a:lstStyle/>
          <a:p>
            <a:r>
              <a:rPr lang="es-ES" dirty="0"/>
              <a:t>RNF01: La interfaz del sistema debe ser clara y fácil de usar, incluso para personas sin conocimientos técnicos. </a:t>
            </a:r>
            <a:endParaRPr lang="en-DK" dirty="0"/>
          </a:p>
          <a:p>
            <a:r>
              <a:rPr lang="es-ES" dirty="0"/>
              <a:t>RNF02: La generación de respuestas automáticas debe demorar menos de 5 segundos.</a:t>
            </a:r>
            <a:endParaRPr lang="en-DK" dirty="0"/>
          </a:p>
          <a:p>
            <a:r>
              <a:rPr lang="es-ES" dirty="0"/>
              <a:t>RNF03: El sistema debe resguardar los datos personales y fiscales de los clientes de forma segura.</a:t>
            </a:r>
            <a:endParaRPr lang="en-DK" dirty="0"/>
          </a:p>
          <a:p>
            <a:r>
              <a:rPr lang="es-ES" dirty="0"/>
              <a:t>RNF04: El sistema debe permitir modificar productos, promociones y condiciones fácilmente, sin depender de soporte técnico. </a:t>
            </a:r>
            <a:endParaRPr lang="en-DK" dirty="0"/>
          </a:p>
          <a:p>
            <a:r>
              <a:rPr lang="es-ES" dirty="0"/>
              <a:t>RNF05: El sistema debe funcionar correctamente en los principales navegadores web (por ejemplo, Chrome, Firefox, Edge, Safari). </a:t>
            </a:r>
            <a:endParaRPr lang="en-DK" dirty="0"/>
          </a:p>
          <a:p>
            <a:r>
              <a:rPr lang="es-ES" dirty="0"/>
              <a:t>RNF06: El sistema debe realizar una copia de seguridad</a:t>
            </a:r>
            <a:r>
              <a:rPr lang="es-ES" i="1" dirty="0"/>
              <a:t> </a:t>
            </a:r>
            <a:r>
              <a:rPr lang="es-ES" dirty="0"/>
              <a:t>completa de la base de datos al menos una vez al día. </a:t>
            </a:r>
            <a:endParaRPr lang="en-DK" dirty="0"/>
          </a:p>
          <a:p>
            <a:r>
              <a:rPr lang="es-ES" dirty="0"/>
              <a:t>RNF07: El sistema debe contar con un mecanismo para recuperarse ante desastres, en menos de 4 horas.</a:t>
            </a:r>
            <a:endParaRPr lang="en-DK" dirty="0"/>
          </a:p>
        </p:txBody>
      </p:sp>
    </p:spTree>
    <p:extLst>
      <p:ext uri="{BB962C8B-B14F-4D97-AF65-F5344CB8AC3E}">
        <p14:creationId xmlns:p14="http://schemas.microsoft.com/office/powerpoint/2010/main" val="3777865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5357" y="2960716"/>
            <a:ext cx="3027251" cy="2387600"/>
          </a:xfrm>
        </p:spPr>
        <p:txBody>
          <a:bodyPr vert="horz" lIns="91440" tIns="45720" rIns="91440" bIns="45720" rtlCol="0" anchor="t">
            <a:normAutofit/>
          </a:bodyPr>
          <a:lstStyle/>
          <a:p>
            <a:pPr algn="l" defTabSz="914400">
              <a:lnSpc>
                <a:spcPct val="90000"/>
              </a:lnSpc>
              <a:defRPr sz="3600" b="1">
                <a:solidFill>
                  <a:srgbClr val="000080"/>
                </a:solidFill>
              </a:defRPr>
            </a:pPr>
            <a:r>
              <a:rPr lang="en-US" sz="4000" kern="1200" noProof="0">
                <a:solidFill>
                  <a:schemeClr val="tx1"/>
                </a:solidFill>
                <a:latin typeface="+mj-lt"/>
                <a:ea typeface="+mj-ea"/>
                <a:cs typeface="+mj-cs"/>
              </a:rPr>
              <a:t>Casos de uso e historias de usuario</a:t>
            </a:r>
          </a:p>
        </p:txBody>
      </p:sp>
      <p:grpSp>
        <p:nvGrpSpPr>
          <p:cNvPr id="11" name="Group 1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2984992"/>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391886"/>
            <a:ext cx="4507025"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9473517-9F93-B242-6FD3-EA5C4BF13FE9}"/>
              </a:ext>
            </a:extLst>
          </p:cNvPr>
          <p:cNvPicPr>
            <a:picLocks noChangeAspect="1"/>
          </p:cNvPicPr>
          <p:nvPr/>
        </p:nvPicPr>
        <p:blipFill>
          <a:blip r:embed="rId2"/>
          <a:stretch>
            <a:fillRect/>
          </a:stretch>
        </p:blipFill>
        <p:spPr>
          <a:xfrm>
            <a:off x="4441869" y="1941234"/>
            <a:ext cx="4152000" cy="29167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895A40-19A4-42D6-9D30-DBC1E8002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F429C4-ABC9-46FC-818A-B5429CDE4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52794" y="3388321"/>
            <a:ext cx="32004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EF98E4-3709-4952-8F42-2305CCE34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923606" y="1637601"/>
            <a:ext cx="6858003" cy="35827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10BCCF5-D685-47FF-B675-647EAEB72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0935" y="857786"/>
            <a:ext cx="8300268" cy="5208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40766" y="3071183"/>
            <a:ext cx="7432722" cy="2590027"/>
          </a:xfrm>
        </p:spPr>
        <p:txBody>
          <a:bodyPr vert="horz" lIns="91440" tIns="45720" rIns="91440" bIns="45720" rtlCol="0" anchor="t">
            <a:normAutofit/>
          </a:bodyPr>
          <a:lstStyle/>
          <a:p>
            <a:pPr algn="l" defTabSz="914400">
              <a:lnSpc>
                <a:spcPct val="90000"/>
              </a:lnSpc>
              <a:defRPr sz="3600" b="1">
                <a:solidFill>
                  <a:srgbClr val="000080"/>
                </a:solidFill>
              </a:defRPr>
            </a:pPr>
            <a:r>
              <a:rPr lang="en-US" sz="6500" kern="1200" noProof="0" dirty="0">
                <a:solidFill>
                  <a:schemeClr val="tx1"/>
                </a:solidFill>
                <a:latin typeface="+mj-lt"/>
                <a:ea typeface="+mj-ea"/>
                <a:cs typeface="+mj-cs"/>
              </a:rPr>
              <a:t>Etapa de </a:t>
            </a:r>
            <a:r>
              <a:rPr lang="en-US" sz="6500" kern="1200" noProof="0" dirty="0" err="1">
                <a:solidFill>
                  <a:schemeClr val="tx1"/>
                </a:solidFill>
                <a:latin typeface="+mj-lt"/>
                <a:ea typeface="+mj-ea"/>
                <a:cs typeface="+mj-cs"/>
              </a:rPr>
              <a:t>validación</a:t>
            </a:r>
            <a:endParaRPr lang="en-US" sz="6500" kern="1200" noProof="0" dirty="0">
              <a:solidFill>
                <a:schemeClr val="tx1"/>
              </a:solidFill>
              <a:latin typeface="+mj-lt"/>
              <a:ea typeface="+mj-ea"/>
              <a:cs typeface="+mj-cs"/>
            </a:endParaRPr>
          </a:p>
        </p:txBody>
      </p:sp>
      <p:sp>
        <p:nvSpPr>
          <p:cNvPr id="3" name="Content Placeholder 2"/>
          <p:cNvSpPr>
            <a:spLocks noGrp="1"/>
          </p:cNvSpPr>
          <p:nvPr>
            <p:ph idx="1"/>
          </p:nvPr>
        </p:nvSpPr>
        <p:spPr>
          <a:xfrm>
            <a:off x="740766" y="1553518"/>
            <a:ext cx="7432721" cy="1281733"/>
          </a:xfrm>
        </p:spPr>
        <p:txBody>
          <a:bodyPr vert="horz" lIns="91440" tIns="45720" rIns="91440" bIns="45720" rtlCol="0" anchor="b">
            <a:normAutofit/>
          </a:bodyPr>
          <a:lstStyle/>
          <a:p>
            <a:pPr marL="0" indent="0" defTabSz="914400">
              <a:lnSpc>
                <a:spcPct val="90000"/>
              </a:lnSpc>
              <a:spcBef>
                <a:spcPts val="1000"/>
              </a:spcBef>
              <a:buNone/>
            </a:pPr>
            <a:r>
              <a:rPr lang="en-US" sz="2400" kern="1200" noProof="0" dirty="0" err="1">
                <a:solidFill>
                  <a:schemeClr val="tx1"/>
                </a:solidFill>
                <a:latin typeface="+mn-lt"/>
                <a:ea typeface="+mn-ea"/>
                <a:cs typeface="+mn-cs"/>
              </a:rPr>
              <a:t>Prototipos</a:t>
            </a:r>
            <a:endParaRPr lang="en-US" sz="2400" kern="1200" noProof="0" dirty="0">
              <a:solidFill>
                <a:schemeClr val="tx1"/>
              </a:solidFill>
              <a:latin typeface="+mn-lt"/>
              <a:ea typeface="+mn-ea"/>
              <a:cs typeface="+mn-cs"/>
            </a:endParaRPr>
          </a:p>
        </p:txBody>
      </p:sp>
      <p:sp>
        <p:nvSpPr>
          <p:cNvPr id="16" name="Rectangle 15">
            <a:extLst>
              <a:ext uri="{FF2B5EF4-FFF2-40B4-BE49-F238E27FC236}">
                <a16:creationId xmlns:a16="http://schemas.microsoft.com/office/drawing/2014/main" id="{B0EE8A42-107A-4D4C-8D56-BBAE95C7F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543057" y="3385173"/>
            <a:ext cx="32004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43000" y="1293338"/>
            <a:ext cx="6858000" cy="3274592"/>
          </a:xfrm>
        </p:spPr>
        <p:txBody>
          <a:bodyPr vert="horz" lIns="91440" tIns="45720" rIns="91440" bIns="45720" rtlCol="0" anchor="ctr">
            <a:normAutofit/>
          </a:bodyPr>
          <a:lstStyle/>
          <a:p>
            <a:pPr defTabSz="914400">
              <a:lnSpc>
                <a:spcPct val="90000"/>
              </a:lnSpc>
              <a:defRPr sz="3600" b="1">
                <a:solidFill>
                  <a:srgbClr val="000080"/>
                </a:solidFill>
              </a:defRPr>
            </a:pPr>
            <a:r>
              <a:rPr lang="en-US" sz="6300" kern="1200" noProof="0">
                <a:solidFill>
                  <a:schemeClr val="tx1"/>
                </a:solidFill>
                <a:latin typeface="+mj-lt"/>
                <a:ea typeface="+mj-ea"/>
                <a:cs typeface="+mj-cs"/>
              </a:rPr>
              <a:t>Conclusiones</a:t>
            </a:r>
          </a:p>
        </p:txBody>
      </p:sp>
      <p:sp>
        <p:nvSpPr>
          <p:cNvPr id="3" name="Content Placeholder 2"/>
          <p:cNvSpPr>
            <a:spLocks noGrp="1"/>
          </p:cNvSpPr>
          <p:nvPr>
            <p:ph idx="1"/>
          </p:nvPr>
        </p:nvSpPr>
        <p:spPr>
          <a:xfrm>
            <a:off x="1143000" y="5514052"/>
            <a:ext cx="6858000" cy="651910"/>
          </a:xfrm>
        </p:spPr>
        <p:txBody>
          <a:bodyPr vert="horz" lIns="91440" tIns="45720" rIns="91440" bIns="45720" rtlCol="0" anchor="ctr">
            <a:normAutofit/>
          </a:bodyPr>
          <a:lstStyle/>
          <a:p>
            <a:pPr marL="0" indent="0" algn="ctr" defTabSz="914400">
              <a:lnSpc>
                <a:spcPct val="90000"/>
              </a:lnSpc>
              <a:spcBef>
                <a:spcPts val="1000"/>
              </a:spcBef>
              <a:buNone/>
            </a:pPr>
            <a:r>
              <a:rPr lang="en-US" sz="2000" kern="1200" noProof="0">
                <a:solidFill>
                  <a:schemeClr val="tx1"/>
                </a:solidFill>
                <a:latin typeface="+mn-lt"/>
                <a:ea typeface="+mn-ea"/>
                <a:cs typeface="+mn-cs"/>
              </a:rPr>
              <a:t>Estamos muy felices con el trabajo y nos gustaría tener un 10. Por favor. Gracias.</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08993"/>
            <a:ext cx="6923558" cy="3542045"/>
          </a:xfrm>
        </p:spPr>
        <p:txBody>
          <a:bodyPr vert="horz" lIns="91440" tIns="45720" rIns="91440" bIns="45720" rtlCol="0" anchor="b">
            <a:normAutofit/>
          </a:bodyPr>
          <a:lstStyle/>
          <a:p>
            <a:pPr algn="l" defTabSz="914400">
              <a:lnSpc>
                <a:spcPct val="90000"/>
              </a:lnSpc>
              <a:defRPr sz="4400" b="1">
                <a:solidFill>
                  <a:srgbClr val="000080"/>
                </a:solidFill>
              </a:defRPr>
            </a:pPr>
            <a:r>
              <a:rPr lang="en-US" sz="10000" kern="1200" noProof="0">
                <a:solidFill>
                  <a:schemeClr val="tx1"/>
                </a:solidFill>
                <a:latin typeface="+mj-lt"/>
                <a:ea typeface="+mj-ea"/>
                <a:cs typeface="+mj-cs"/>
              </a:rPr>
              <a:t>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TotalTime>
  <Words>1004</Words>
  <Application>Microsoft Macintosh PowerPoint</Application>
  <PresentationFormat>On-screen Show (4:3)</PresentationFormat>
  <Paragraphs>51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Librería Kahlo</vt:lpstr>
      <vt:lpstr>Presentación del trabajo</vt:lpstr>
      <vt:lpstr>Sobre el equipo</vt:lpstr>
      <vt:lpstr>Sobre la Librería Kahlo</vt:lpstr>
      <vt:lpstr>Problemática del negocio analizada</vt:lpstr>
      <vt:lpstr>Etapa de elicitación</vt:lpstr>
      <vt:lpstr>Dominio y alcance</vt:lpstr>
      <vt:lpstr>Requerimientos Funcionales</vt:lpstr>
      <vt:lpstr>Requerimientos No Funcionales</vt:lpstr>
      <vt:lpstr>Casos de uso e historias de usuario</vt:lpstr>
      <vt:lpstr>Etapa de validación</vt:lpstr>
      <vt:lpstr>Conclusiones</vt:lpstr>
      <vt:lpstr>Gracias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Pablo Acevedo Areco</cp:lastModifiedBy>
  <cp:revision>8</cp:revision>
  <dcterms:created xsi:type="dcterms:W3CDTF">2013-01-27T09:14:16Z</dcterms:created>
  <dcterms:modified xsi:type="dcterms:W3CDTF">2025-06-18T20:56:01Z</dcterms:modified>
  <cp:category/>
</cp:coreProperties>
</file>